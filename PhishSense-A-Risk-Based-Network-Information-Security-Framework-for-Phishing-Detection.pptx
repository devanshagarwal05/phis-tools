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4630400" cy="8229600"/>
  <p:notesSz cx="8229600" cy="14630400"/>
  <p:embeddedFontLst>
    <p:embeddedFont>
      <p:font typeface="Montserrat Bold" panose="020B0604020202020204" charset="0"/>
      <p:bold r:id="rId21"/>
    </p:embeddedFont>
    <p:embeddedFont>
      <p:font typeface="Montserrat Light" panose="00000400000000000000" pitchFamily="2" charset="0"/>
      <p:regular r:id="rId22"/>
      <p:italic r:id="rId23"/>
    </p:embeddedFont>
    <p:embeddedFont>
      <p:font typeface="Source Sans 3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2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2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406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786765"/>
            <a:ext cx="12902803" cy="21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 err="1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PhisTools</a:t>
            </a: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: A Policy-Aware Phishing Risk Analysis And Prevention Support Tool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989302"/>
            <a:ext cx="12902803" cy="1121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Multi-Model Machine Learning Framework for Real-Time Phishing Risk Assessment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863798" y="4481274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Course: Network Information Security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5129093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Team Members : Samarth Khandelwal (23BIT0051), Devansh Agarwal ( 23BIT0028), Nakul Thombare (23BIT0013)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3798" y="5776913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Professor Name :  </a:t>
            </a:r>
            <a:r>
              <a:rPr lang="en-US" sz="19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Shantharajah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 P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3798" y="6424732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Institution : VIT Vellore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3798" y="7072551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Date : 08-04-2026</a:t>
            </a:r>
            <a:endParaRPr lang="en-US" sz="19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39DCA9-0EAE-1AAF-20B7-3B9D5FD4F33C}"/>
              </a:ext>
            </a:extLst>
          </p:cNvPr>
          <p:cNvSpPr/>
          <p:nvPr/>
        </p:nvSpPr>
        <p:spPr>
          <a:xfrm>
            <a:off x="12849224" y="7515225"/>
            <a:ext cx="1666875" cy="6477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768435"/>
            <a:ext cx="1171455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Growing Threat of Phishing Attacks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3061930"/>
            <a:ext cx="6150293" cy="210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Phishing is one of the most common cyber attacks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Email and URL-based attacks are increasing yearly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Traditional signature-based detection fails for new attacks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Organizations need intelligent, adaptive systems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623929" y="3061930"/>
            <a:ext cx="6150293" cy="826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Phishing bypasses firewalls and basic filters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Human error is the weakest link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233964" y="5813346"/>
            <a:ext cx="1253263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How can we design an intelligent NIS framework that detects phishing dynamically?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63798" y="5535692"/>
            <a:ext cx="30480" cy="9254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26136A-0C57-8663-33AD-D01219A6FD82}"/>
              </a:ext>
            </a:extLst>
          </p:cNvPr>
          <p:cNvSpPr/>
          <p:nvPr/>
        </p:nvSpPr>
        <p:spPr>
          <a:xfrm>
            <a:off x="12849224" y="7515225"/>
            <a:ext cx="1666875" cy="6477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699736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Objective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894648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goal is to: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3798" y="3542467"/>
            <a:ext cx="3040499" cy="1896189"/>
          </a:xfrm>
          <a:prstGeom prst="roundRect">
            <a:avLst>
              <a:gd name="adj" fmla="val 1953"/>
            </a:avLst>
          </a:prstGeom>
          <a:solidFill>
            <a:srgbClr val="303132"/>
          </a:solidFill>
          <a:ln/>
        </p:spPr>
      </p:sp>
      <p:sp>
        <p:nvSpPr>
          <p:cNvPr id="5" name="Text 3"/>
          <p:cNvSpPr/>
          <p:nvPr/>
        </p:nvSpPr>
        <p:spPr>
          <a:xfrm>
            <a:off x="1110615" y="3789283"/>
            <a:ext cx="2546866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Build a multi-model phishing detection system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51114" y="3542467"/>
            <a:ext cx="3040618" cy="1896189"/>
          </a:xfrm>
          <a:prstGeom prst="roundRect">
            <a:avLst>
              <a:gd name="adj" fmla="val 1953"/>
            </a:avLst>
          </a:prstGeom>
          <a:solidFill>
            <a:srgbClr val="303132"/>
          </a:solidFill>
          <a:ln/>
        </p:spPr>
      </p:sp>
      <p:sp>
        <p:nvSpPr>
          <p:cNvPr id="7" name="Text 5"/>
          <p:cNvSpPr/>
          <p:nvPr/>
        </p:nvSpPr>
        <p:spPr>
          <a:xfrm>
            <a:off x="4397931" y="3789283"/>
            <a:ext cx="2546985" cy="1051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Classify URLs and email content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438549" y="3542467"/>
            <a:ext cx="3040618" cy="1896189"/>
          </a:xfrm>
          <a:prstGeom prst="roundRect">
            <a:avLst>
              <a:gd name="adj" fmla="val 1953"/>
            </a:avLst>
          </a:prstGeom>
          <a:solidFill>
            <a:srgbClr val="303132"/>
          </a:solidFill>
          <a:ln/>
        </p:spPr>
      </p:sp>
      <p:sp>
        <p:nvSpPr>
          <p:cNvPr id="9" name="Text 7"/>
          <p:cNvSpPr/>
          <p:nvPr/>
        </p:nvSpPr>
        <p:spPr>
          <a:xfrm>
            <a:off x="7685365" y="3789283"/>
            <a:ext cx="2546985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Provide risk-based scoring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725983" y="3542467"/>
            <a:ext cx="3040618" cy="1896189"/>
          </a:xfrm>
          <a:prstGeom prst="roundRect">
            <a:avLst>
              <a:gd name="adj" fmla="val 1953"/>
            </a:avLst>
          </a:prstGeom>
          <a:solidFill>
            <a:srgbClr val="303132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0" y="3789283"/>
            <a:ext cx="2546985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Simulate real-world Network Security deployment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63798" y="5685473"/>
            <a:ext cx="12902803" cy="844272"/>
          </a:xfrm>
          <a:prstGeom prst="roundRect">
            <a:avLst>
              <a:gd name="adj" fmla="val 4385"/>
            </a:avLst>
          </a:prstGeom>
          <a:solidFill>
            <a:srgbClr val="303132"/>
          </a:solidFill>
          <a:ln/>
        </p:spPr>
      </p:sp>
      <p:sp>
        <p:nvSpPr>
          <p:cNvPr id="13" name="Text 11"/>
          <p:cNvSpPr/>
          <p:nvPr/>
        </p:nvSpPr>
        <p:spPr>
          <a:xfrm>
            <a:off x="1110615" y="5932289"/>
            <a:ext cx="7765256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Improve detection reliability using hybrid ML models</a:t>
            </a:r>
            <a:endParaRPr lang="en-US" sz="2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85E8C1-8F0C-3B11-93C4-AC161F42552B}"/>
              </a:ext>
            </a:extLst>
          </p:cNvPr>
          <p:cNvSpPr/>
          <p:nvPr/>
        </p:nvSpPr>
        <p:spPr>
          <a:xfrm>
            <a:off x="12849224" y="7524750"/>
            <a:ext cx="1666875" cy="6477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490186"/>
            <a:ext cx="12694444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Relevance to Network Information Security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685098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system relates to: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3798" y="3332917"/>
            <a:ext cx="4136350" cy="1255871"/>
          </a:xfrm>
          <a:prstGeom prst="roundRect">
            <a:avLst>
              <a:gd name="adj" fmla="val 11650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3318" y="3332917"/>
            <a:ext cx="121920" cy="1255871"/>
          </a:xfrm>
          <a:prstGeom prst="roundRect">
            <a:avLst>
              <a:gd name="adj" fmla="val 30368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32535" y="3610213"/>
            <a:ext cx="3490317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Intrusion Detection Systems (IDS)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246965" y="3332917"/>
            <a:ext cx="4136350" cy="1255871"/>
          </a:xfrm>
          <a:prstGeom prst="roundRect">
            <a:avLst>
              <a:gd name="adj" fmla="val 11650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6485" y="3332917"/>
            <a:ext cx="121920" cy="1255871"/>
          </a:xfrm>
          <a:prstGeom prst="roundRect">
            <a:avLst>
              <a:gd name="adj" fmla="val 30368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615702" y="361021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Threat Intelligence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630132" y="3332917"/>
            <a:ext cx="4136350" cy="1255871"/>
          </a:xfrm>
          <a:prstGeom prst="roundRect">
            <a:avLst>
              <a:gd name="adj" fmla="val 11650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99652" y="3332917"/>
            <a:ext cx="121920" cy="1255871"/>
          </a:xfrm>
          <a:prstGeom prst="roundRect">
            <a:avLst>
              <a:gd name="adj" fmla="val 30368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998869" y="3610213"/>
            <a:ext cx="3490317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Secure Email Gateway Systems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63798" y="4835604"/>
            <a:ext cx="4136350" cy="1255871"/>
          </a:xfrm>
          <a:prstGeom prst="roundRect">
            <a:avLst>
              <a:gd name="adj" fmla="val 11650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3318" y="4835604"/>
            <a:ext cx="121920" cy="1255871"/>
          </a:xfrm>
          <a:prstGeom prst="roundRect">
            <a:avLst>
              <a:gd name="adj" fmla="val 30368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32535" y="5112901"/>
            <a:ext cx="3490317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Risk-based Security Architecture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246965" y="4835604"/>
            <a:ext cx="4136350" cy="1255871"/>
          </a:xfrm>
          <a:prstGeom prst="roundRect">
            <a:avLst>
              <a:gd name="adj" fmla="val 11650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6485" y="4835604"/>
            <a:ext cx="121920" cy="1255871"/>
          </a:xfrm>
          <a:prstGeom prst="roundRect">
            <a:avLst>
              <a:gd name="adj" fmla="val 30368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615702" y="5112901"/>
            <a:ext cx="3490317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Layered Security Model (Defense in Depth)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3798" y="6369129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PhishSense acts as an intelligent security layer within a network security architecture.</a:t>
            </a:r>
            <a:endParaRPr lang="en-US" sz="19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BEF8D4-C41A-B097-4A7F-B5705C4022F3}"/>
              </a:ext>
            </a:extLst>
          </p:cNvPr>
          <p:cNvSpPr/>
          <p:nvPr/>
        </p:nvSpPr>
        <p:spPr>
          <a:xfrm>
            <a:off x="12849224" y="7515225"/>
            <a:ext cx="1666875" cy="6477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75453" y="646390"/>
            <a:ext cx="5369123" cy="420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Architecture Overview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5453" y="1243965"/>
            <a:ext cx="739616" cy="8874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03652" y="1391841"/>
            <a:ext cx="1681043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 Input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5453" y="2131457"/>
            <a:ext cx="739616" cy="88749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503652" y="2279333"/>
            <a:ext cx="1681043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Feature Extraction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5453" y="3018949"/>
            <a:ext cx="739616" cy="8874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503652" y="3166824"/>
            <a:ext cx="1681043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ML Models</a:t>
            </a:r>
            <a:endParaRPr lang="en-US" sz="13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5453" y="3906441"/>
            <a:ext cx="739616" cy="88749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503652" y="4054316"/>
            <a:ext cx="1681043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Risk Scoring</a:t>
            </a:r>
            <a:endParaRPr lang="en-US" sz="13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5453" y="4793933"/>
            <a:ext cx="739616" cy="88749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503652" y="4941808"/>
            <a:ext cx="1681043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Final Classification</a:t>
            </a:r>
            <a:endParaRPr lang="en-US" sz="13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5453" y="5681424"/>
            <a:ext cx="739616" cy="88749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3503652" y="5829300"/>
            <a:ext cx="1929527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Web Interface Output</a:t>
            </a:r>
            <a:endParaRPr lang="en-US" sz="1300" dirty="0"/>
          </a:p>
        </p:txBody>
      </p:sp>
      <p:sp>
        <p:nvSpPr>
          <p:cNvPr id="15" name="Text 7"/>
          <p:cNvSpPr/>
          <p:nvPr/>
        </p:nvSpPr>
        <p:spPr>
          <a:xfrm>
            <a:off x="2675453" y="6701909"/>
            <a:ext cx="2017276" cy="252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Components:</a:t>
            </a:r>
            <a:endParaRPr lang="en-US" sz="1550" dirty="0"/>
          </a:p>
        </p:txBody>
      </p:sp>
      <p:sp>
        <p:nvSpPr>
          <p:cNvPr id="16" name="Text 8"/>
          <p:cNvSpPr/>
          <p:nvPr/>
        </p:nvSpPr>
        <p:spPr>
          <a:xfrm>
            <a:off x="2675453" y="7166729"/>
            <a:ext cx="4459367" cy="385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Frontend (Streamlit Web App)</a:t>
            </a:r>
            <a:endParaRPr lang="en-US" sz="115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Backend ML Engine</a:t>
            </a:r>
            <a:endParaRPr lang="en-US" sz="1150" dirty="0"/>
          </a:p>
        </p:txBody>
      </p:sp>
      <p:sp>
        <p:nvSpPr>
          <p:cNvPr id="17" name="Text 9"/>
          <p:cNvSpPr/>
          <p:nvPr/>
        </p:nvSpPr>
        <p:spPr>
          <a:xfrm>
            <a:off x="7503200" y="7166729"/>
            <a:ext cx="4459367" cy="385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Trained Models</a:t>
            </a:r>
            <a:endParaRPr lang="en-US" sz="115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Risk Aggregation Logic</a:t>
            </a:r>
            <a:endParaRPr lang="en-US" sz="11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4F5FBE-5661-F163-29D1-F77FF2091F63}"/>
              </a:ext>
            </a:extLst>
          </p:cNvPr>
          <p:cNvSpPr/>
          <p:nvPr/>
        </p:nvSpPr>
        <p:spPr>
          <a:xfrm>
            <a:off x="12849224" y="7515225"/>
            <a:ext cx="1666875" cy="6477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72371"/>
            <a:ext cx="10362724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Machine Learning Algorithms Used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63798" y="2715101"/>
            <a:ext cx="6327934" cy="3340298"/>
          </a:xfrm>
          <a:prstGeom prst="roundRect">
            <a:avLst>
              <a:gd name="adj" fmla="val 1108"/>
            </a:avLst>
          </a:prstGeom>
          <a:solidFill>
            <a:srgbClr val="303132"/>
          </a:solidFill>
          <a:ln/>
        </p:spPr>
      </p:sp>
      <p:sp>
        <p:nvSpPr>
          <p:cNvPr id="5" name="Shape 3"/>
          <p:cNvSpPr/>
          <p:nvPr/>
        </p:nvSpPr>
        <p:spPr>
          <a:xfrm>
            <a:off x="1110615" y="2961918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4212" y="3165515"/>
            <a:ext cx="333137" cy="3331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0615" y="3949184"/>
            <a:ext cx="3954661" cy="42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1️⃣</a:t>
            </a:r>
            <a:r>
              <a:rPr lang="en-US" sz="26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Logistic Regression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1110615" y="4525447"/>
            <a:ext cx="5834301" cy="1283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Used with TF-IDF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Works well for text classification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 and interpretable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438549" y="2715101"/>
            <a:ext cx="6328053" cy="3340298"/>
          </a:xfrm>
          <a:prstGeom prst="roundRect">
            <a:avLst>
              <a:gd name="adj" fmla="val 1108"/>
            </a:avLst>
          </a:prstGeom>
          <a:solidFill>
            <a:srgbClr val="303132"/>
          </a:solidFill>
          <a:ln/>
        </p:spPr>
      </p:sp>
      <p:sp>
        <p:nvSpPr>
          <p:cNvPr id="10" name="Shape 7"/>
          <p:cNvSpPr/>
          <p:nvPr/>
        </p:nvSpPr>
        <p:spPr>
          <a:xfrm>
            <a:off x="7685365" y="2961918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8962" y="3165515"/>
            <a:ext cx="333137" cy="3331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85365" y="3949184"/>
            <a:ext cx="4386024" cy="42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2️⃣</a:t>
            </a:r>
            <a:r>
              <a:rPr lang="en-US" sz="26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LSTM (Deep Learning)</a:t>
            </a:r>
            <a:endParaRPr lang="en-US" sz="2650" dirty="0"/>
          </a:p>
        </p:txBody>
      </p:sp>
      <p:sp>
        <p:nvSpPr>
          <p:cNvPr id="13" name="Text 9"/>
          <p:cNvSpPr/>
          <p:nvPr/>
        </p:nvSpPr>
        <p:spPr>
          <a:xfrm>
            <a:off x="7685365" y="4525447"/>
            <a:ext cx="5834420" cy="1283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Used for sequential pattern recognition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Captures contextual patterns in phishing text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Handles obfuscated content better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863798" y="6333053"/>
            <a:ext cx="12902803" cy="1024057"/>
          </a:xfrm>
          <a:prstGeom prst="roundRect">
            <a:avLst>
              <a:gd name="adj" fmla="val 3616"/>
            </a:avLst>
          </a:prstGeom>
          <a:solidFill>
            <a:srgbClr val="26262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615" y="6684645"/>
            <a:ext cx="308491" cy="24681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65923" y="6641544"/>
            <a:ext cx="1185386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Why hybrid approach:</a:t>
            </a:r>
            <a:r>
              <a:rPr lang="en-US" sz="1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Combining statistical ML + Deep Learning increases robustness.</a:t>
            </a:r>
            <a:endParaRPr lang="en-US" sz="19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1F2C7A-684C-20C2-CE23-B5956119EBB3}"/>
              </a:ext>
            </a:extLst>
          </p:cNvPr>
          <p:cNvSpPr/>
          <p:nvPr/>
        </p:nvSpPr>
        <p:spPr>
          <a:xfrm>
            <a:off x="12849224" y="7515225"/>
            <a:ext cx="1666875" cy="6477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511737"/>
            <a:ext cx="9677876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Algorithm Selection Justification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86038" y="2583180"/>
            <a:ext cx="6505813" cy="2283738"/>
          </a:xfrm>
          <a:prstGeom prst="roundRect">
            <a:avLst>
              <a:gd name="adj" fmla="val 1621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32855" y="2829997"/>
            <a:ext cx="3528655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Logistic Regression: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932855" y="3497461"/>
            <a:ext cx="6012180" cy="1283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Lightweight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Good baseline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Works well with sparse text data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623929" y="2829997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LSTM: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623929" y="3497461"/>
            <a:ext cx="6150293" cy="1283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Learns long-term dependencies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Detects subtle phishing patterns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Handles variations better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233964" y="5422225"/>
            <a:ext cx="1253263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Hybrid detection reduces false positives and false negatives.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63798" y="5144572"/>
            <a:ext cx="30480" cy="9254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825450-2C0C-66BF-D32B-805F9FAB9598}"/>
              </a:ext>
            </a:extLst>
          </p:cNvPr>
          <p:cNvSpPr/>
          <p:nvPr/>
        </p:nvSpPr>
        <p:spPr>
          <a:xfrm>
            <a:off x="12849224" y="7515225"/>
            <a:ext cx="1666875" cy="6477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296948"/>
            <a:ext cx="811291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Dataset and Model Training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590443"/>
            <a:ext cx="8176022" cy="173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Balanced dataset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Oversampling used (RandomOverSampler)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TF-IDF feature extraction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Train-Test split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649658" y="2615208"/>
            <a:ext cx="2820829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Evaluation metrics: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49658" y="3212663"/>
            <a:ext cx="4124444" cy="173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Accuracy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Precision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Recall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ROC-AUC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63798" y="5316260"/>
            <a:ext cx="12902803" cy="1616273"/>
          </a:xfrm>
          <a:prstGeom prst="roundRect">
            <a:avLst>
              <a:gd name="adj" fmla="val 2291"/>
            </a:avLst>
          </a:prstGeom>
          <a:solidFill>
            <a:srgbClr val="26262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615" y="5667851"/>
            <a:ext cx="308491" cy="2468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65923" y="5624751"/>
            <a:ext cx="1185386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Oversampling improves class imbalance, which is common in phishing datasets.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665923" y="6216968"/>
            <a:ext cx="1185386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19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556BA0-4F99-47C8-9095-9D366A2E76BA}"/>
              </a:ext>
            </a:extLst>
          </p:cNvPr>
          <p:cNvSpPr/>
          <p:nvPr/>
        </p:nvSpPr>
        <p:spPr>
          <a:xfrm>
            <a:off x="12849224" y="7515225"/>
            <a:ext cx="1666875" cy="6477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084" y="679013"/>
            <a:ext cx="11992689" cy="700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Novelty: Risk-Based Decision Framework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084" y="1872139"/>
            <a:ext cx="12904232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is your strongest point.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084" y="2518886"/>
            <a:ext cx="12904232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Instead of binary output: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084" y="3165634"/>
            <a:ext cx="246578" cy="308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63084" y="3554254"/>
            <a:ext cx="4137184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63084" y="3738443"/>
            <a:ext cx="4137184" cy="700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 compute risk score (0–100)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46608" y="3165634"/>
            <a:ext cx="246578" cy="308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246608" y="3554254"/>
            <a:ext cx="4137184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246608" y="3738443"/>
            <a:ext cx="4137184" cy="700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Multiple model outputs are aggregated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30132" y="3165634"/>
            <a:ext cx="246578" cy="308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630132" y="3554254"/>
            <a:ext cx="4137184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630132" y="3738443"/>
            <a:ext cx="2802255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Risk levels: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30132" y="4236482"/>
            <a:ext cx="4137184" cy="128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 Risk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Medium Risk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 Risk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32892" y="6256973"/>
            <a:ext cx="12534424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simulates real-world SOC (Security Operations Center) risk classification.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232892" y="6903720"/>
            <a:ext cx="12534424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63084" y="5979914"/>
            <a:ext cx="30480" cy="15705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D8ED5F-F617-D109-BC74-2D40E99C68AD}"/>
              </a:ext>
            </a:extLst>
          </p:cNvPr>
          <p:cNvSpPr/>
          <p:nvPr/>
        </p:nvSpPr>
        <p:spPr>
          <a:xfrm>
            <a:off x="12849224" y="7515225"/>
            <a:ext cx="1666875" cy="6477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4149" y="682943"/>
            <a:ext cx="13002101" cy="1321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Network Security Enhancements Implemented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814149" y="2791778"/>
            <a:ext cx="4187904" cy="1505307"/>
          </a:xfrm>
          <a:prstGeom prst="roundRect">
            <a:avLst>
              <a:gd name="adj" fmla="val 9719"/>
            </a:avLst>
          </a:prstGeom>
          <a:solidFill>
            <a:srgbClr val="111213"/>
          </a:solidFill>
          <a:ln/>
        </p:spPr>
      </p:sp>
      <p:sp>
        <p:nvSpPr>
          <p:cNvPr id="4" name="Shape 2"/>
          <p:cNvSpPr/>
          <p:nvPr/>
        </p:nvSpPr>
        <p:spPr>
          <a:xfrm>
            <a:off x="814149" y="2761298"/>
            <a:ext cx="4187904" cy="121920"/>
          </a:xfrm>
          <a:prstGeom prst="roundRect">
            <a:avLst>
              <a:gd name="adj" fmla="val 28619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559189" y="2442924"/>
            <a:ext cx="697825" cy="697825"/>
          </a:xfrm>
          <a:prstGeom prst="roundRect">
            <a:avLst>
              <a:gd name="adj" fmla="val 131036"/>
            </a:avLst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8501" y="2652236"/>
            <a:ext cx="279083" cy="2790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7158" y="3373279"/>
            <a:ext cx="3661886" cy="660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Risk scoring instead of simple classification</a:t>
            </a:r>
            <a:endParaRPr lang="en-US" sz="2050" dirty="0"/>
          </a:p>
        </p:txBody>
      </p:sp>
      <p:sp>
        <p:nvSpPr>
          <p:cNvPr id="8" name="Shape 5"/>
          <p:cNvSpPr/>
          <p:nvPr/>
        </p:nvSpPr>
        <p:spPr>
          <a:xfrm>
            <a:off x="5221248" y="2791778"/>
            <a:ext cx="4187904" cy="1505307"/>
          </a:xfrm>
          <a:prstGeom prst="roundRect">
            <a:avLst>
              <a:gd name="adj" fmla="val 9719"/>
            </a:avLst>
          </a:prstGeom>
          <a:solidFill>
            <a:srgbClr val="111213"/>
          </a:solidFill>
          <a:ln/>
        </p:spPr>
      </p:sp>
      <p:sp>
        <p:nvSpPr>
          <p:cNvPr id="9" name="Shape 6"/>
          <p:cNvSpPr/>
          <p:nvPr/>
        </p:nvSpPr>
        <p:spPr>
          <a:xfrm>
            <a:off x="5221248" y="2761298"/>
            <a:ext cx="4187904" cy="121920"/>
          </a:xfrm>
          <a:prstGeom prst="roundRect">
            <a:avLst>
              <a:gd name="adj" fmla="val 28619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6966287" y="2442924"/>
            <a:ext cx="697825" cy="697825"/>
          </a:xfrm>
          <a:prstGeom prst="roundRect">
            <a:avLst>
              <a:gd name="adj" fmla="val 131036"/>
            </a:avLst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5599" y="2652236"/>
            <a:ext cx="279083" cy="2790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4257" y="3373279"/>
            <a:ext cx="3642360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Multi-layer detection logic</a:t>
            </a:r>
            <a:endParaRPr lang="en-US" sz="2050" dirty="0"/>
          </a:p>
        </p:txBody>
      </p:sp>
      <p:sp>
        <p:nvSpPr>
          <p:cNvPr id="13" name="Shape 9"/>
          <p:cNvSpPr/>
          <p:nvPr/>
        </p:nvSpPr>
        <p:spPr>
          <a:xfrm>
            <a:off x="9628346" y="2791778"/>
            <a:ext cx="4187904" cy="1505307"/>
          </a:xfrm>
          <a:prstGeom prst="roundRect">
            <a:avLst>
              <a:gd name="adj" fmla="val 9719"/>
            </a:avLst>
          </a:prstGeom>
          <a:solidFill>
            <a:srgbClr val="111213"/>
          </a:solidFill>
          <a:ln/>
        </p:spPr>
      </p:sp>
      <p:sp>
        <p:nvSpPr>
          <p:cNvPr id="14" name="Shape 10"/>
          <p:cNvSpPr/>
          <p:nvPr/>
        </p:nvSpPr>
        <p:spPr>
          <a:xfrm>
            <a:off x="9628346" y="2761298"/>
            <a:ext cx="4187904" cy="121920"/>
          </a:xfrm>
          <a:prstGeom prst="roundRect">
            <a:avLst>
              <a:gd name="adj" fmla="val 28619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11373386" y="2442924"/>
            <a:ext cx="697825" cy="697825"/>
          </a:xfrm>
          <a:prstGeom prst="roundRect">
            <a:avLst>
              <a:gd name="adj" fmla="val 131036"/>
            </a:avLst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82698" y="2652236"/>
            <a:ext cx="279083" cy="2790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91355" y="3373279"/>
            <a:ext cx="2922627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Modular architecture</a:t>
            </a:r>
            <a:endParaRPr lang="en-US" sz="2050" dirty="0"/>
          </a:p>
        </p:txBody>
      </p:sp>
      <p:sp>
        <p:nvSpPr>
          <p:cNvPr id="18" name="Shape 13"/>
          <p:cNvSpPr/>
          <p:nvPr/>
        </p:nvSpPr>
        <p:spPr>
          <a:xfrm>
            <a:off x="814149" y="4865132"/>
            <a:ext cx="6391394" cy="1505307"/>
          </a:xfrm>
          <a:prstGeom prst="roundRect">
            <a:avLst>
              <a:gd name="adj" fmla="val 9719"/>
            </a:avLst>
          </a:prstGeom>
          <a:solidFill>
            <a:srgbClr val="111213"/>
          </a:solidFill>
          <a:ln/>
        </p:spPr>
      </p:sp>
      <p:sp>
        <p:nvSpPr>
          <p:cNvPr id="19" name="Shape 14"/>
          <p:cNvSpPr/>
          <p:nvPr/>
        </p:nvSpPr>
        <p:spPr>
          <a:xfrm>
            <a:off x="814149" y="4834652"/>
            <a:ext cx="6391394" cy="121920"/>
          </a:xfrm>
          <a:prstGeom prst="roundRect">
            <a:avLst>
              <a:gd name="adj" fmla="val 28619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3660874" y="4516279"/>
            <a:ext cx="697825" cy="697825"/>
          </a:xfrm>
          <a:prstGeom prst="roundRect">
            <a:avLst>
              <a:gd name="adj" fmla="val 131036"/>
            </a:avLst>
          </a:prstGeom>
          <a:solidFill>
            <a:srgbClr val="FFFF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70186" y="4725591"/>
            <a:ext cx="279083" cy="27908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77158" y="5446633"/>
            <a:ext cx="4204216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Expandable model integration</a:t>
            </a:r>
            <a:endParaRPr lang="en-US" sz="2050" dirty="0"/>
          </a:p>
        </p:txBody>
      </p:sp>
      <p:sp>
        <p:nvSpPr>
          <p:cNvPr id="23" name="Shape 17"/>
          <p:cNvSpPr/>
          <p:nvPr/>
        </p:nvSpPr>
        <p:spPr>
          <a:xfrm>
            <a:off x="7424737" y="4865132"/>
            <a:ext cx="6391513" cy="1505307"/>
          </a:xfrm>
          <a:prstGeom prst="roundRect">
            <a:avLst>
              <a:gd name="adj" fmla="val 9719"/>
            </a:avLst>
          </a:prstGeom>
          <a:solidFill>
            <a:srgbClr val="111213"/>
          </a:solidFill>
          <a:ln/>
        </p:spPr>
      </p:sp>
      <p:sp>
        <p:nvSpPr>
          <p:cNvPr id="24" name="Shape 18"/>
          <p:cNvSpPr/>
          <p:nvPr/>
        </p:nvSpPr>
        <p:spPr>
          <a:xfrm>
            <a:off x="7424737" y="4834652"/>
            <a:ext cx="6391513" cy="121920"/>
          </a:xfrm>
          <a:prstGeom prst="roundRect">
            <a:avLst>
              <a:gd name="adj" fmla="val 28619"/>
            </a:avLst>
          </a:prstGeom>
          <a:solidFill>
            <a:srgbClr val="FFFFFF"/>
          </a:solidFill>
          <a:ln/>
        </p:spPr>
      </p:sp>
      <p:sp>
        <p:nvSpPr>
          <p:cNvPr id="25" name="Shape 19"/>
          <p:cNvSpPr/>
          <p:nvPr/>
        </p:nvSpPr>
        <p:spPr>
          <a:xfrm>
            <a:off x="10271581" y="4516279"/>
            <a:ext cx="697825" cy="697825"/>
          </a:xfrm>
          <a:prstGeom prst="roundRect">
            <a:avLst>
              <a:gd name="adj" fmla="val 131036"/>
            </a:avLst>
          </a:prstGeom>
          <a:solidFill>
            <a:srgbClr val="FFFFF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80893" y="4725591"/>
            <a:ext cx="279083" cy="27908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87747" y="5446633"/>
            <a:ext cx="5865495" cy="660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Designed to simulate enterprise gateway system</a:t>
            </a:r>
            <a:endParaRPr lang="en-US" sz="2050" dirty="0"/>
          </a:p>
        </p:txBody>
      </p:sp>
      <p:sp>
        <p:nvSpPr>
          <p:cNvPr id="28" name="Shape 21"/>
          <p:cNvSpPr/>
          <p:nvPr/>
        </p:nvSpPr>
        <p:spPr>
          <a:xfrm>
            <a:off x="814149" y="6617018"/>
            <a:ext cx="13002101" cy="929640"/>
          </a:xfrm>
          <a:prstGeom prst="roundRect">
            <a:avLst>
              <a:gd name="adj" fmla="val 3753"/>
            </a:avLst>
          </a:prstGeom>
          <a:solidFill>
            <a:srgbClr val="262626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678" y="6940391"/>
            <a:ext cx="290751" cy="232529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569958" y="6894314"/>
            <a:ext cx="12013763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Framework-ready for integration into IDS or firewall system.</a:t>
            </a:r>
            <a:endParaRPr lang="en-US" sz="18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D24CD82-C0B4-5463-23E0-8A73B4BC24ED}"/>
              </a:ext>
            </a:extLst>
          </p:cNvPr>
          <p:cNvSpPr/>
          <p:nvPr/>
        </p:nvSpPr>
        <p:spPr>
          <a:xfrm>
            <a:off x="12849224" y="7515225"/>
            <a:ext cx="1666875" cy="6477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407081"/>
            <a:ext cx="7662624" cy="70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Real-World Application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63798" y="3145750"/>
            <a:ext cx="12902803" cy="462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cases: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3798" y="3886081"/>
            <a:ext cx="12902803" cy="2196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Email security gateway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Corporate firewall filtering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Browser security extension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SOC monitoring systems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Enterprise phishing detection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3798" y="6359843"/>
            <a:ext cx="12902803" cy="462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 be deployed as API service inside a network.</a:t>
            </a:r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094141-5191-5216-1F07-7E00BFB94BA9}"/>
              </a:ext>
            </a:extLst>
          </p:cNvPr>
          <p:cNvSpPr/>
          <p:nvPr/>
        </p:nvSpPr>
        <p:spPr>
          <a:xfrm>
            <a:off x="12849224" y="7515225"/>
            <a:ext cx="1666875" cy="6477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5940" y="677704"/>
            <a:ext cx="7170896" cy="709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End-to-End Workflow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855940" y="1484590"/>
            <a:ext cx="7569875" cy="555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Workflow (Step-by-Step)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855940" y="3132772"/>
            <a:ext cx="244554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55940" y="3517821"/>
            <a:ext cx="6338054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55940" y="3701058"/>
            <a:ext cx="4253746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 inputs URL or email text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436287" y="3132772"/>
            <a:ext cx="244554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36287" y="3517821"/>
            <a:ext cx="6338173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436287" y="3701058"/>
            <a:ext cx="5587603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Feature extraction (TF-IDF / Tokenizer)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855940" y="4474012"/>
            <a:ext cx="244554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55940" y="4859060"/>
            <a:ext cx="6338054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55940" y="5042297"/>
            <a:ext cx="2779157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Model prediction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7436287" y="4474012"/>
            <a:ext cx="244554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436287" y="4859060"/>
            <a:ext cx="6338173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436287" y="5042297"/>
            <a:ext cx="2779157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Risk aggregation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855940" y="5815251"/>
            <a:ext cx="244554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55940" y="6200299"/>
            <a:ext cx="6338054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55940" y="6383536"/>
            <a:ext cx="2779157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Final classification</a:t>
            </a:r>
            <a:endParaRPr lang="en-US" sz="2150" dirty="0"/>
          </a:p>
        </p:txBody>
      </p:sp>
      <p:sp>
        <p:nvSpPr>
          <p:cNvPr id="20" name="Text 18"/>
          <p:cNvSpPr/>
          <p:nvPr/>
        </p:nvSpPr>
        <p:spPr>
          <a:xfrm>
            <a:off x="7436287" y="5815251"/>
            <a:ext cx="244554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06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7436287" y="6200299"/>
            <a:ext cx="6338173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436287" y="6383536"/>
            <a:ext cx="2779157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Display result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855940" y="7186732"/>
            <a:ext cx="12918519" cy="365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9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EAB5829-A802-FC00-FC1E-25384236B7F2}"/>
              </a:ext>
            </a:extLst>
          </p:cNvPr>
          <p:cNvSpPr/>
          <p:nvPr/>
        </p:nvSpPr>
        <p:spPr>
          <a:xfrm>
            <a:off x="12849224" y="7515225"/>
            <a:ext cx="1666875" cy="6477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89635"/>
            <a:ext cx="6655832" cy="70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Model Performance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1697236"/>
            <a:ext cx="4487823" cy="56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Results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863798" y="3368635"/>
            <a:ext cx="6327934" cy="844272"/>
          </a:xfrm>
          <a:prstGeom prst="roundRect">
            <a:avLst>
              <a:gd name="adj" fmla="val 4385"/>
            </a:avLst>
          </a:prstGeom>
          <a:solidFill>
            <a:srgbClr val="303132"/>
          </a:solidFill>
          <a:ln/>
        </p:spPr>
      </p:sp>
      <p:sp>
        <p:nvSpPr>
          <p:cNvPr id="6" name="Text 4"/>
          <p:cNvSpPr/>
          <p:nvPr/>
        </p:nvSpPr>
        <p:spPr>
          <a:xfrm>
            <a:off x="1110615" y="361545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Accuracy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38549" y="3368635"/>
            <a:ext cx="6328053" cy="844272"/>
          </a:xfrm>
          <a:prstGeom prst="roundRect">
            <a:avLst>
              <a:gd name="adj" fmla="val 4385"/>
            </a:avLst>
          </a:prstGeom>
          <a:solidFill>
            <a:srgbClr val="303132"/>
          </a:solidFill>
          <a:ln/>
        </p:spPr>
      </p:sp>
      <p:sp>
        <p:nvSpPr>
          <p:cNvPr id="8" name="Text 6"/>
          <p:cNvSpPr/>
          <p:nvPr/>
        </p:nvSpPr>
        <p:spPr>
          <a:xfrm>
            <a:off x="7685365" y="361545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ROC-AUC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63798" y="4459724"/>
            <a:ext cx="6327934" cy="844272"/>
          </a:xfrm>
          <a:prstGeom prst="roundRect">
            <a:avLst>
              <a:gd name="adj" fmla="val 4385"/>
            </a:avLst>
          </a:prstGeom>
          <a:solidFill>
            <a:srgbClr val="303132"/>
          </a:solidFill>
          <a:ln/>
        </p:spPr>
      </p:sp>
      <p:sp>
        <p:nvSpPr>
          <p:cNvPr id="10" name="Text 8"/>
          <p:cNvSpPr/>
          <p:nvPr/>
        </p:nvSpPr>
        <p:spPr>
          <a:xfrm>
            <a:off x="1110615" y="470654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Precision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438549" y="4459724"/>
            <a:ext cx="6328053" cy="844272"/>
          </a:xfrm>
          <a:prstGeom prst="roundRect">
            <a:avLst>
              <a:gd name="adj" fmla="val 4385"/>
            </a:avLst>
          </a:prstGeom>
          <a:solidFill>
            <a:srgbClr val="303132"/>
          </a:solidFill>
          <a:ln/>
        </p:spPr>
      </p:sp>
      <p:sp>
        <p:nvSpPr>
          <p:cNvPr id="12" name="Text 10"/>
          <p:cNvSpPr/>
          <p:nvPr/>
        </p:nvSpPr>
        <p:spPr>
          <a:xfrm>
            <a:off x="7685365" y="470654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Recall</a:t>
            </a:r>
            <a:endParaRPr lang="en-US" sz="2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B9A159-CA45-CD50-80A4-AEC739D6C65D}"/>
              </a:ext>
            </a:extLst>
          </p:cNvPr>
          <p:cNvSpPr/>
          <p:nvPr/>
        </p:nvSpPr>
        <p:spPr>
          <a:xfrm>
            <a:off x="12849224" y="7515225"/>
            <a:ext cx="1666875" cy="6477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522690"/>
            <a:ext cx="5609749" cy="70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Limitations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63798" y="4001691"/>
            <a:ext cx="6327934" cy="905232"/>
          </a:xfrm>
          <a:prstGeom prst="roundRect">
            <a:avLst>
              <a:gd name="adj" fmla="val 4090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1095" y="4278987"/>
            <a:ext cx="281213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 live DNS lookup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38549" y="4001691"/>
            <a:ext cx="6328053" cy="905232"/>
          </a:xfrm>
          <a:prstGeom prst="roundRect">
            <a:avLst>
              <a:gd name="adj" fmla="val 4090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15845" y="4278987"/>
            <a:ext cx="5356146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 real-time threat intelligence feed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63798" y="5153739"/>
            <a:ext cx="6327934" cy="905232"/>
          </a:xfrm>
          <a:prstGeom prst="roundRect">
            <a:avLst>
              <a:gd name="adj" fmla="val 4090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1095" y="5431036"/>
            <a:ext cx="305716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Dataset dependency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438549" y="5153739"/>
            <a:ext cx="6328053" cy="905232"/>
          </a:xfrm>
          <a:prstGeom prst="roundRect">
            <a:avLst>
              <a:gd name="adj" fmla="val 4090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15845" y="5431036"/>
            <a:ext cx="452223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 distributed deployment yet</a:t>
            </a:r>
            <a:endParaRPr lang="en-US" sz="2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3B7077-B4B7-D9A3-543E-3C02057A0F7B}"/>
              </a:ext>
            </a:extLst>
          </p:cNvPr>
          <p:cNvSpPr/>
          <p:nvPr/>
        </p:nvSpPr>
        <p:spPr>
          <a:xfrm>
            <a:off x="12849224" y="7515225"/>
            <a:ext cx="1666875" cy="6477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96791"/>
            <a:ext cx="7281743" cy="70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Future Improvements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63798" y="2735461"/>
            <a:ext cx="12902803" cy="462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Strong ideas: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3798" y="3475792"/>
            <a:ext cx="12902803" cy="3109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DNS verification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Integration with SIEM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Federated learning approach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Quantum-resistant encryption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Distributed IDS integration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Browser extension version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threat intelligence API</a:t>
            </a:r>
            <a:endParaRPr lang="en-US" sz="19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BE6271-ED5C-1D47-4187-DD5794F2183B}"/>
              </a:ext>
            </a:extLst>
          </p:cNvPr>
          <p:cNvSpPr/>
          <p:nvPr/>
        </p:nvSpPr>
        <p:spPr>
          <a:xfrm>
            <a:off x="12849224" y="7515225"/>
            <a:ext cx="1666875" cy="6477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875353"/>
            <a:ext cx="11750516" cy="70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Comparison with Traditional Security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63798" y="3860840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Traditional: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863798" y="4528304"/>
            <a:ext cx="6150293" cy="826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Signature-based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Static rule-based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446169" y="3614023"/>
            <a:ext cx="6505813" cy="2740223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692985" y="3860840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Our System: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692985" y="4528304"/>
            <a:ext cx="6012180" cy="173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Adaptive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ML-based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Risk-scored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Multi-layered</a:t>
            </a:r>
            <a:endParaRPr lang="en-US" sz="19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E74EF4-2F8B-A5D8-283A-A855D10BFB87}"/>
              </a:ext>
            </a:extLst>
          </p:cNvPr>
          <p:cNvSpPr/>
          <p:nvPr/>
        </p:nvSpPr>
        <p:spPr>
          <a:xfrm>
            <a:off x="12849224" y="7515225"/>
            <a:ext cx="1666875" cy="6477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6653" y="679728"/>
            <a:ext cx="8956834" cy="702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Technical Concepts Covered</a:t>
            </a:r>
            <a:endParaRPr lang="en-US" sz="4300" dirty="0"/>
          </a:p>
        </p:txBody>
      </p:sp>
      <p:sp>
        <p:nvSpPr>
          <p:cNvPr id="5" name="Shape 3"/>
          <p:cNvSpPr/>
          <p:nvPr/>
        </p:nvSpPr>
        <p:spPr>
          <a:xfrm>
            <a:off x="846653" y="3097887"/>
            <a:ext cx="4154329" cy="888206"/>
          </a:xfrm>
          <a:prstGeom prst="roundRect">
            <a:avLst>
              <a:gd name="adj" fmla="val 16472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6173" y="3097887"/>
            <a:ext cx="121920" cy="888206"/>
          </a:xfrm>
          <a:prstGeom prst="roundRect">
            <a:avLst>
              <a:gd name="adj" fmla="val 29762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210389" y="3370183"/>
            <a:ext cx="2935724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TF-IDF Vectorization</a:t>
            </a:r>
            <a:endParaRPr lang="en-US" sz="2150" dirty="0"/>
          </a:p>
        </p:txBody>
      </p:sp>
      <p:sp>
        <p:nvSpPr>
          <p:cNvPr id="8" name="Shape 6"/>
          <p:cNvSpPr/>
          <p:nvPr/>
        </p:nvSpPr>
        <p:spPr>
          <a:xfrm>
            <a:off x="5238036" y="3097887"/>
            <a:ext cx="4154329" cy="888206"/>
          </a:xfrm>
          <a:prstGeom prst="roundRect">
            <a:avLst>
              <a:gd name="adj" fmla="val 16472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07556" y="3097887"/>
            <a:ext cx="121920" cy="888206"/>
          </a:xfrm>
          <a:prstGeom prst="roundRect">
            <a:avLst>
              <a:gd name="adj" fmla="val 29762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601772" y="3370183"/>
            <a:ext cx="2809875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Logistic Regression</a:t>
            </a:r>
            <a:endParaRPr lang="en-US" sz="2150" dirty="0"/>
          </a:p>
        </p:txBody>
      </p:sp>
      <p:sp>
        <p:nvSpPr>
          <p:cNvPr id="11" name="Shape 9"/>
          <p:cNvSpPr/>
          <p:nvPr/>
        </p:nvSpPr>
        <p:spPr>
          <a:xfrm>
            <a:off x="9629418" y="3097887"/>
            <a:ext cx="4154329" cy="888206"/>
          </a:xfrm>
          <a:prstGeom prst="roundRect">
            <a:avLst>
              <a:gd name="adj" fmla="val 16472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98938" y="3097887"/>
            <a:ext cx="121920" cy="888206"/>
          </a:xfrm>
          <a:prstGeom prst="roundRect">
            <a:avLst>
              <a:gd name="adj" fmla="val 29762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993154" y="3370183"/>
            <a:ext cx="2748796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LSTM Networks</a:t>
            </a:r>
            <a:endParaRPr lang="en-US" sz="2150" dirty="0"/>
          </a:p>
        </p:txBody>
      </p:sp>
      <p:sp>
        <p:nvSpPr>
          <p:cNvPr id="14" name="Shape 12"/>
          <p:cNvSpPr/>
          <p:nvPr/>
        </p:nvSpPr>
        <p:spPr>
          <a:xfrm>
            <a:off x="846653" y="4223147"/>
            <a:ext cx="4154329" cy="1231821"/>
          </a:xfrm>
          <a:prstGeom prst="roundRect">
            <a:avLst>
              <a:gd name="adj" fmla="val 11877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6173" y="4223147"/>
            <a:ext cx="121920" cy="1231821"/>
          </a:xfrm>
          <a:prstGeom prst="roundRect">
            <a:avLst>
              <a:gd name="adj" fmla="val 29762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210389" y="4495443"/>
            <a:ext cx="3518297" cy="687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Imbalanced Data Handling</a:t>
            </a:r>
            <a:endParaRPr lang="en-US" sz="2150" dirty="0"/>
          </a:p>
        </p:txBody>
      </p:sp>
      <p:sp>
        <p:nvSpPr>
          <p:cNvPr id="17" name="Shape 15"/>
          <p:cNvSpPr/>
          <p:nvPr/>
        </p:nvSpPr>
        <p:spPr>
          <a:xfrm>
            <a:off x="5238036" y="4223147"/>
            <a:ext cx="4154329" cy="1231821"/>
          </a:xfrm>
          <a:prstGeom prst="roundRect">
            <a:avLst>
              <a:gd name="adj" fmla="val 11877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07556" y="4223147"/>
            <a:ext cx="121920" cy="1231821"/>
          </a:xfrm>
          <a:prstGeom prst="roundRect">
            <a:avLst>
              <a:gd name="adj" fmla="val 29762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601772" y="4495443"/>
            <a:ext cx="3365778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Risk Aggregation Logic</a:t>
            </a:r>
            <a:endParaRPr lang="en-US" sz="2150" dirty="0"/>
          </a:p>
        </p:txBody>
      </p:sp>
      <p:sp>
        <p:nvSpPr>
          <p:cNvPr id="20" name="Shape 18"/>
          <p:cNvSpPr/>
          <p:nvPr/>
        </p:nvSpPr>
        <p:spPr>
          <a:xfrm>
            <a:off x="9629418" y="4223147"/>
            <a:ext cx="4154329" cy="1231821"/>
          </a:xfrm>
          <a:prstGeom prst="roundRect">
            <a:avLst>
              <a:gd name="adj" fmla="val 11877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98938" y="4223147"/>
            <a:ext cx="121920" cy="1231821"/>
          </a:xfrm>
          <a:prstGeom prst="roundRect">
            <a:avLst>
              <a:gd name="adj" fmla="val 29762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993154" y="4495443"/>
            <a:ext cx="3518297" cy="687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Network Security Architecture</a:t>
            </a:r>
            <a:endParaRPr lang="en-US" sz="2150" dirty="0"/>
          </a:p>
        </p:txBody>
      </p:sp>
      <p:sp>
        <p:nvSpPr>
          <p:cNvPr id="23" name="Shape 21"/>
          <p:cNvSpPr/>
          <p:nvPr/>
        </p:nvSpPr>
        <p:spPr>
          <a:xfrm>
            <a:off x="846653" y="5692021"/>
            <a:ext cx="4154329" cy="1231821"/>
          </a:xfrm>
          <a:prstGeom prst="roundRect">
            <a:avLst>
              <a:gd name="adj" fmla="val 11877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6173" y="5692021"/>
            <a:ext cx="121920" cy="1231821"/>
          </a:xfrm>
          <a:prstGeom prst="roundRect">
            <a:avLst>
              <a:gd name="adj" fmla="val 29762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210389" y="5964317"/>
            <a:ext cx="3518297" cy="687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Secure Deployment Model</a:t>
            </a:r>
            <a:endParaRPr lang="en-US" sz="21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76ADD3-6CAB-DB41-5548-1A9D4CD7784F}"/>
              </a:ext>
            </a:extLst>
          </p:cNvPr>
          <p:cNvSpPr/>
          <p:nvPr/>
        </p:nvSpPr>
        <p:spPr>
          <a:xfrm>
            <a:off x="12849224" y="7515225"/>
            <a:ext cx="1666875" cy="6477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842" y="709374"/>
            <a:ext cx="5375791" cy="679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27842" y="3045976"/>
            <a:ext cx="532209" cy="532209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6" name="Text 4"/>
          <p:cNvSpPr/>
          <p:nvPr/>
        </p:nvSpPr>
        <p:spPr>
          <a:xfrm>
            <a:off x="1586627" y="3127177"/>
            <a:ext cx="7092791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Built a multi-model phishing detection framework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7842" y="4031456"/>
            <a:ext cx="532209" cy="532209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8" name="Text 6"/>
          <p:cNvSpPr/>
          <p:nvPr/>
        </p:nvSpPr>
        <p:spPr>
          <a:xfrm>
            <a:off x="1586627" y="4112657"/>
            <a:ext cx="4968478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Integrated ML into NIS architecture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7842" y="5016937"/>
            <a:ext cx="532209" cy="532209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0" name="Text 8"/>
          <p:cNvSpPr/>
          <p:nvPr/>
        </p:nvSpPr>
        <p:spPr>
          <a:xfrm>
            <a:off x="1586627" y="5098137"/>
            <a:ext cx="5363051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Implemented risk-based classification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27842" y="6002417"/>
            <a:ext cx="532209" cy="532209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2" name="Text 10"/>
          <p:cNvSpPr/>
          <p:nvPr/>
        </p:nvSpPr>
        <p:spPr>
          <a:xfrm>
            <a:off x="1586627" y="6083618"/>
            <a:ext cx="4040386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Created a scalable prototype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27842" y="6987897"/>
            <a:ext cx="532209" cy="532209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4" name="Text 12"/>
          <p:cNvSpPr/>
          <p:nvPr/>
        </p:nvSpPr>
        <p:spPr>
          <a:xfrm>
            <a:off x="1586627" y="7069098"/>
            <a:ext cx="6538079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Demonstrated real-world security applicability</a:t>
            </a:r>
            <a:endParaRPr lang="en-US" sz="2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312868-5CAF-4774-E779-470B2ED4BA6B}"/>
              </a:ext>
            </a:extLst>
          </p:cNvPr>
          <p:cNvSpPr/>
          <p:nvPr/>
        </p:nvSpPr>
        <p:spPr>
          <a:xfrm>
            <a:off x="12849224" y="7515225"/>
            <a:ext cx="1666875" cy="6477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628</Words>
  <Application>Microsoft Office PowerPoint</Application>
  <PresentationFormat>Custom</PresentationFormat>
  <Paragraphs>176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Montserrat Light</vt:lpstr>
      <vt:lpstr>Montserrat Bold</vt:lpstr>
      <vt:lpstr>Arial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Devansh Agarwal</cp:lastModifiedBy>
  <cp:revision>7</cp:revision>
  <dcterms:created xsi:type="dcterms:W3CDTF">2026-02-22T20:48:40Z</dcterms:created>
  <dcterms:modified xsi:type="dcterms:W3CDTF">2026-04-08T06:12:07Z</dcterms:modified>
</cp:coreProperties>
</file>